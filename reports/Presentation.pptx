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380" r:id="rId2"/>
    <p:sldId id="397" r:id="rId3"/>
    <p:sldId id="365" r:id="rId4"/>
    <p:sldId id="344" r:id="rId5"/>
    <p:sldId id="389" r:id="rId6"/>
    <p:sldId id="390" r:id="rId7"/>
    <p:sldId id="391" r:id="rId8"/>
    <p:sldId id="392" r:id="rId9"/>
    <p:sldId id="398" r:id="rId10"/>
    <p:sldId id="399" r:id="rId11"/>
    <p:sldId id="400" r:id="rId12"/>
    <p:sldId id="40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B18A2C"/>
    <a:srgbClr val="616A78"/>
    <a:srgbClr val="D87C1B"/>
    <a:srgbClr val="000000"/>
    <a:srgbClr val="1D7CB8"/>
    <a:srgbClr val="1D7CB9"/>
    <a:srgbClr val="626A78"/>
    <a:srgbClr val="B18B2C"/>
    <a:srgbClr val="DA7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2AA87-48CD-0884-8CAB-325C293FD292}" v="2" dt="2026-06-22T23:36:59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00"/>
    <p:restoredTop sz="95616"/>
  </p:normalViewPr>
  <p:slideViewPr>
    <p:cSldViewPr snapToGrid="0">
      <p:cViewPr varScale="1">
        <p:scale>
          <a:sx n="121" d="100"/>
          <a:sy n="121" d="100"/>
        </p:scale>
        <p:origin x="74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23EFC-526B-4EF2-8A0A-F01C60CA2A67}" type="datetimeFigureOut">
              <a:rPr lang="en-US" smtClean="0"/>
              <a:t>6/28/26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72F06-F6ED-43C1-A86D-15B5F2AFD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83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163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805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79D0-D9B5-563B-1C5D-C9974597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892DF-CBBA-CAC2-E9CB-0C602C070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BBAAA-A985-C1A1-90AC-B7C88597B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50EB2-20CC-A968-6D4B-D66E319A5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182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E352-B6A0-5788-1290-9B31BD31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82A25-F226-B5CD-60E8-E4905FD56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14669-CF0C-A8FF-5E89-F899DAB1A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A5A93-9B38-52FB-725C-3AB2FA44C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939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DBDAA-C7E9-9C5B-0E48-6666A082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C9A490-C27F-2B75-CD97-B389D5B0E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5B37F5-00FB-46E4-E993-EA86DA463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C66D9-8CED-1C8A-AF51-1A2104251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298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53A80-3783-453B-CE35-40987244D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233FB-10EB-DF0E-FBD5-DC72BCB57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E53B-0319-3337-701D-8EF9038BC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E9FD8-7BE9-83C0-303A-0129ED89F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3317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EB0B-8750-1B50-0893-2ECCD4D0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E2A3C-B532-C612-BC7C-BB451711E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A663C-CEA9-18FD-6F0B-F23EA4E31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6AF32-DBF3-49FD-8959-954F34A8B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72F06-F6ED-43C1-A86D-15B5F2AFDEC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58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61192D4-3DEB-49BB-8F09-91031D57C7D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6224" cy="6858000"/>
          </a:xfrm>
          <a:solidFill>
            <a:schemeClr val="accent1"/>
          </a:solidFill>
        </p:spPr>
        <p:txBody>
          <a:bodyPr tIns="1280160" anchor="ctr">
            <a:noAutofit/>
          </a:bodyPr>
          <a:lstStyle>
            <a:lvl1pPr algn="ctr">
              <a:defRPr sz="2000"/>
            </a:lvl1pPr>
          </a:lstStyle>
          <a:p>
            <a:r>
              <a:rPr lang="en-US" dirty="0"/>
              <a:t>Click to insert image here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94C4FA-8597-7449-A0F1-38E8A1C6B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1018" y="1526016"/>
            <a:ext cx="12188952" cy="2031324"/>
          </a:xfrm>
          <a:solidFill>
            <a:schemeClr val="tx1">
              <a:lumMod val="85000"/>
              <a:lumOff val="15000"/>
              <a:alpha val="60000"/>
            </a:schemeClr>
          </a:solidFill>
        </p:spPr>
        <p:txBody>
          <a:bodyPr lIns="868680" tIns="91440">
            <a:normAutofit/>
          </a:bodyPr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747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3">
            <a:extLst>
              <a:ext uri="{FF2B5EF4-FFF2-40B4-BE49-F238E27FC236}">
                <a16:creationId xmlns:a16="http://schemas.microsoft.com/office/drawing/2014/main" id="{63C9361F-F5AC-124A-A751-F276961C9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175" y="528629"/>
            <a:ext cx="10542707" cy="479900"/>
          </a:xfrm>
        </p:spPr>
        <p:txBody>
          <a:bodyPr lIns="0" tIns="0" rIns="0" bIns="0" anchor="t">
            <a:no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text</a:t>
            </a:r>
            <a:br>
              <a:rPr lang="en-US" dirty="0"/>
            </a:b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110C240-E84A-BB4D-911E-3069CAF91A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176" y="1018950"/>
            <a:ext cx="10542706" cy="4799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master title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1B2370-69F6-454B-ACB1-3BCDAE4D8D5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175" y="1963738"/>
            <a:ext cx="7320225" cy="421798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485AAEB-729B-0E45-AA2A-8821D226E7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60220" y="3888618"/>
            <a:ext cx="2389094" cy="4799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BA4E48D-7640-4648-AD2A-35EB9295CCF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60220" y="5322378"/>
            <a:ext cx="2389094" cy="85976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269461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-bleed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3">
            <a:extLst>
              <a:ext uri="{FF2B5EF4-FFF2-40B4-BE49-F238E27FC236}">
                <a16:creationId xmlns:a16="http://schemas.microsoft.com/office/drawing/2014/main" id="{3265DD9D-6018-7248-B068-226B5087E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3175" y="528629"/>
            <a:ext cx="10540405" cy="479900"/>
          </a:xfrm>
        </p:spPr>
        <p:txBody>
          <a:bodyPr lIns="0" tIns="0" rIns="0" bIns="0" anchor="t">
            <a:no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text</a:t>
            </a:r>
            <a:br>
              <a:rPr lang="en-US" dirty="0"/>
            </a:br>
            <a:endParaRPr lang="en-US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2BB5A709-E25A-CC47-AE58-EC9F42EF12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3176" y="1018950"/>
            <a:ext cx="10540404" cy="4799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Click to edit master title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BB3087-49AA-480C-A462-1133A6E7C6C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1" y="2066536"/>
            <a:ext cx="12188951" cy="4800602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0AF7B98-3554-234B-A9A0-828B8E3E86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066537"/>
            <a:ext cx="6096000" cy="4800604"/>
          </a:xfrm>
          <a:solidFill>
            <a:srgbClr val="262626">
              <a:alpha val="61961"/>
            </a:srgbClr>
          </a:solidFill>
        </p:spPr>
        <p:txBody>
          <a:bodyPr lIns="1920240" tIns="274320" anchor="ctr" anchorCtr="0">
            <a:normAutofit/>
          </a:bodyPr>
          <a:lstStyle>
            <a:lvl1pPr marL="0" indent="0" algn="l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</a:t>
            </a:r>
          </a:p>
          <a:p>
            <a:pPr lvl="0"/>
            <a:r>
              <a:rPr lang="en-US" dirty="0"/>
              <a:t>text style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30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667F-4D1E-EA4A-9BD5-F58C1A590C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62621"/>
          </a:xfrm>
        </p:spPr>
        <p:txBody>
          <a:bodyPr lIns="0" tIns="0" anchor="t">
            <a:norm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DA66A47-2551-47FC-AF11-56C9D8900AD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895600" y="2022680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6A8B312-3B12-4FB7-8207-99056B6249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07040" y="2022680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889AF3F-A262-4DE7-9C9F-D0730B47D91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895600" y="3470340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43E97BC8-22E4-3141-9608-84A945A42A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3470340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4D375CF-42E3-43DD-814F-AC643A2908FE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2895600" y="4922214"/>
            <a:ext cx="3200400" cy="1225296"/>
          </a:xfrm>
          <a:solidFill>
            <a:schemeClr val="accent1"/>
          </a:solidFill>
          <a:ln w="12700">
            <a:solidFill>
              <a:schemeClr val="accent5"/>
            </a:solidFill>
          </a:ln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B752F2A-0251-4959-80B1-17743D2F9F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0" y="4922214"/>
            <a:ext cx="3200400" cy="1225296"/>
          </a:xfr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lIns="438912" rIns="438912" anchor="ctr">
            <a:normAutofit/>
          </a:bodyPr>
          <a:lstStyle>
            <a:lvl1pPr marL="0" indent="0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/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823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10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3">
            <a:extLst>
              <a:ext uri="{FF2B5EF4-FFF2-40B4-BE49-F238E27FC236}">
                <a16:creationId xmlns:a16="http://schemas.microsoft.com/office/drawing/2014/main" id="{40DEA294-B1C6-9E48-A990-C4FC916393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2A9031-5DBD-4AD9-9381-7F3F67DD857C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38200" y="2540000"/>
            <a:ext cx="3043238" cy="271145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89751D94-3DF3-A241-B368-55DC9BEF389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38197" y="4634096"/>
            <a:ext cx="3042684" cy="617685"/>
          </a:xfrm>
          <a:solidFill>
            <a:schemeClr val="accent4">
              <a:alpha val="90000"/>
            </a:schemeClr>
          </a:solidFill>
        </p:spPr>
        <p:txBody>
          <a:bodyPr lIns="91440" tIns="9144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B5A1782-324D-4E6F-B70F-B4AAAF5BE28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600994" y="2540000"/>
            <a:ext cx="3043238" cy="271145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D02C2A04-A4DF-194D-9BF0-98BDCA834A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01548" y="4634097"/>
            <a:ext cx="3042684" cy="617685"/>
          </a:xfrm>
          <a:solidFill>
            <a:schemeClr val="accent2">
              <a:alpha val="90000"/>
            </a:schemeClr>
          </a:solidFill>
        </p:spPr>
        <p:txBody>
          <a:bodyPr lIns="91440" tIns="9144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948B0B4-59DD-4F57-BC4D-AD690F1F9A8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310557" y="2540000"/>
            <a:ext cx="3043238" cy="271145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910F1566-2F10-C94E-A440-3BE6863E41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1111" y="4636714"/>
            <a:ext cx="3042684" cy="617685"/>
          </a:xfrm>
          <a:solidFill>
            <a:schemeClr val="accent3">
              <a:alpha val="90000"/>
            </a:schemeClr>
          </a:solidFill>
        </p:spPr>
        <p:txBody>
          <a:bodyPr lIns="91440" tIns="91440" anchor="ctr" anchorCtr="0">
            <a:normAutofit/>
          </a:bodyPr>
          <a:lstStyle>
            <a:lvl1pPr marL="0" indent="0" algn="ctr">
              <a:lnSpc>
                <a:spcPct val="60000"/>
              </a:lnSpc>
              <a:buNone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/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078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3">
            <a:extLst>
              <a:ext uri="{FF2B5EF4-FFF2-40B4-BE49-F238E27FC236}">
                <a16:creationId xmlns:a16="http://schemas.microsoft.com/office/drawing/2014/main" id="{61830361-A194-9F4E-999F-05BDD53E56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09F5E-ECB4-4608-BAD6-3C0B906FBC1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68500" y="1780031"/>
            <a:ext cx="3225800" cy="393020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dirty="0"/>
              <a:t>Click to insert image or graphic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31456E2-715C-4D0E-AEC1-EDCEF7EFE17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997700" y="1779475"/>
            <a:ext cx="3225800" cy="393020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dirty="0"/>
              <a:t>Click to insert image or graphic here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/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744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6BEBC398-0B32-5D4C-8F8E-8DA17BC07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66928"/>
            <a:ext cx="10537683" cy="873436"/>
          </a:xfrm>
        </p:spPr>
        <p:txBody>
          <a:bodyPr lIns="0" tIns="0" rIns="0" bIns="0" anchor="t">
            <a:noAutofit/>
          </a:bodyPr>
          <a:lstStyle>
            <a:lvl1pPr>
              <a:defRPr sz="28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2D11-D0BD-46AC-942A-A7F84C34C1C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38199" y="1780031"/>
            <a:ext cx="10537683" cy="457631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800"/>
            </a:lvl1pPr>
          </a:lstStyle>
          <a:p>
            <a:pPr lvl="0"/>
            <a:r>
              <a:rPr lang="en-US" dirty="0"/>
              <a:t>Click to insert image or graphic here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317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0269070-4807-43E2-A9DF-90767C93C7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207239" cy="6858000"/>
          </a:xfrm>
          <a:solidFill>
            <a:schemeClr val="accent1"/>
          </a:solidFill>
        </p:spPr>
        <p:txBody>
          <a:bodyPr tIns="2560320" anchor="ctr">
            <a:no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 here</a:t>
            </a:r>
          </a:p>
          <a:p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95A5A22-1295-5A4C-BEED-CDAAB6B38D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-11574" y="-11151"/>
            <a:ext cx="12207240" cy="3429000"/>
          </a:xfrm>
          <a:solidFill>
            <a:srgbClr val="262626">
              <a:alpha val="61961"/>
            </a:srgbClr>
          </a:solidFill>
          <a:ln>
            <a:noFill/>
          </a:ln>
        </p:spPr>
        <p:txBody>
          <a:bodyPr lIns="868680" tIns="2057400" bIns="9144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exit master text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EBD28-F38A-B644-853D-75CBD6A9F7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5847"/>
            <a:ext cx="10515600" cy="1062232"/>
          </a:xfr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6C998-067D-F24C-8880-399DE7EC60CF}"/>
              </a:ext>
            </a:extLst>
          </p:cNvPr>
          <p:cNvSpPr txBox="1"/>
          <p:nvPr userDrawn="1"/>
        </p:nvSpPr>
        <p:spPr>
          <a:xfrm>
            <a:off x="3340444" y="5935091"/>
            <a:ext cx="5511112" cy="52322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/>
                </a:solidFill>
                <a:latin typeface="+mn-lt"/>
                <a:cs typeface="Arial" panose="020B0604020202020204" pitchFamily="34" charset="0"/>
              </a:rPr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654708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EFD44-3E18-544B-BBAC-DCBF5F125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69494"/>
            <a:ext cx="10515600" cy="911595"/>
          </a:xfrm>
        </p:spPr>
        <p:txBody>
          <a:bodyPr lIns="0" tIns="0" rIns="0" bIns="0" anchor="t">
            <a:normAutofit/>
          </a:bodyPr>
          <a:lstStyle>
            <a:lvl1pPr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69AB53E-6566-42B1-A87A-589EE239D5A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33175" y="1963738"/>
            <a:ext cx="6759223" cy="4217987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 dirty="0"/>
              <a:t>Click to insert image here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D3509C8-7877-6946-8CE5-00F7B9552E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32800" y="3725227"/>
            <a:ext cx="2919113" cy="183531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sz="16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6EC1DFF-6B7A-4C4C-9BDC-76D1FE8DD60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32800" y="5692068"/>
            <a:ext cx="2919113" cy="532753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27BF259-DAF9-B243-B6F0-58E2A58BD7D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sz="1200">
                <a:latin typeface="+mn-lt"/>
                <a:cs typeface="Arial" panose="020B0604020202020204" pitchFamily="34" charset="0"/>
              </a:defRPr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53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22E6D3-9558-45D3-9914-1F3B0A5BDCA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12188952" cy="6858000"/>
          </a:xfrm>
          <a:solidFill>
            <a:schemeClr val="accent1"/>
          </a:solidFill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r>
              <a:rPr lang="en-US" dirty="0"/>
              <a:t>Click to insert image or graphic here</a:t>
            </a:r>
          </a:p>
          <a:p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DF58130-BFA9-C64B-9400-27CEC7444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6966" y="2338086"/>
            <a:ext cx="10541219" cy="2164466"/>
          </a:xfrm>
        </p:spPr>
        <p:txBody>
          <a:bodyPr lIns="0">
            <a:noAutofit/>
          </a:bodyPr>
          <a:lstStyle>
            <a:lvl1pPr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edit master text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9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4DDE9C-955A-40E0-AEDB-57EE5B37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092AA-470A-438D-B06A-389D4965D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C0FCC-269D-49E4-B1A8-2F5D9EEA5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A52BEA90-E6BE-45F4-8D5D-C2E01FE3DB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72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78" r:id="rId4"/>
    <p:sldLayoutId id="2147483679" r:id="rId5"/>
    <p:sldLayoutId id="2147483680" r:id="rId6"/>
    <p:sldLayoutId id="2147483682" r:id="rId7"/>
    <p:sldLayoutId id="2147483687" r:id="rId8"/>
    <p:sldLayoutId id="2147483686" r:id="rId9"/>
    <p:sldLayoutId id="2147483681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76E574-6F12-2143-ACF1-0D214372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797" y="728325"/>
            <a:ext cx="10540405" cy="4799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Georgia" pitchFamily="34" charset="-122"/>
                <a:cs typeface="Calibri" panose="020F0502020204030204" pitchFamily="34" charset="0"/>
              </a:rPr>
              <a:t>Geopolitical Risk Scoring and Anomaly Detection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52F552C-2509-2A4A-B971-97339C647B5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10" t="7984" r="1"/>
          <a:stretch>
            <a:fillRect/>
          </a:stretch>
        </p:blipFill>
        <p:spPr>
          <a:xfrm flipH="1">
            <a:off x="4384023" y="2075676"/>
            <a:ext cx="7807977" cy="4800603"/>
          </a:xfrm>
        </p:spPr>
      </p:pic>
      <p:pic>
        <p:nvPicPr>
          <p:cNvPr id="8" name="Picture Placeholder 6">
            <a:extLst>
              <a:ext uri="{FF2B5EF4-FFF2-40B4-BE49-F238E27FC236}">
                <a16:creationId xmlns:a16="http://schemas.microsoft.com/office/drawing/2014/main" id="{45C738BE-AE0E-2130-E4C2-5A0EC97D9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3" r="74022"/>
          <a:stretch>
            <a:fillRect/>
          </a:stretch>
        </p:blipFill>
        <p:spPr>
          <a:xfrm flipH="1">
            <a:off x="3527146" y="2075678"/>
            <a:ext cx="1809749" cy="4800603"/>
          </a:xfrm>
          <a:prstGeom prst="rect">
            <a:avLst/>
          </a:prstGeom>
        </p:spPr>
      </p:pic>
      <p:pic>
        <p:nvPicPr>
          <p:cNvPr id="9" name="Picture Placeholder 6">
            <a:extLst>
              <a:ext uri="{FF2B5EF4-FFF2-40B4-BE49-F238E27FC236}">
                <a16:creationId xmlns:a16="http://schemas.microsoft.com/office/drawing/2014/main" id="{B9A6C37C-7E47-601A-F401-D2AA48B6D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3" r="74022"/>
          <a:stretch>
            <a:fillRect/>
          </a:stretch>
        </p:blipFill>
        <p:spPr>
          <a:xfrm flipH="1">
            <a:off x="1763573" y="2075678"/>
            <a:ext cx="1809749" cy="4800603"/>
          </a:xfrm>
          <a:prstGeom prst="rect">
            <a:avLst/>
          </a:prstGeom>
        </p:spPr>
      </p:pic>
      <p:pic>
        <p:nvPicPr>
          <p:cNvPr id="10" name="Picture Placeholder 6">
            <a:extLst>
              <a:ext uri="{FF2B5EF4-FFF2-40B4-BE49-F238E27FC236}">
                <a16:creationId xmlns:a16="http://schemas.microsoft.com/office/drawing/2014/main" id="{1E364951-EB58-0373-9859-AD89D53DF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3" r="74022"/>
          <a:stretch>
            <a:fillRect/>
          </a:stretch>
        </p:blipFill>
        <p:spPr>
          <a:xfrm flipH="1">
            <a:off x="0" y="2075677"/>
            <a:ext cx="1809751" cy="4800603"/>
          </a:xfrm>
          <a:prstGeom prst="rect">
            <a:avLst/>
          </a:prstGeom>
        </p:spPr>
      </p:pic>
      <p:pic>
        <p:nvPicPr>
          <p:cNvPr id="12" name="Picture Placeholder 6">
            <a:extLst>
              <a:ext uri="{FF2B5EF4-FFF2-40B4-BE49-F238E27FC236}">
                <a16:creationId xmlns:a16="http://schemas.microsoft.com/office/drawing/2014/main" id="{0179EF22-C6C4-CFEE-BC5F-E0C9A2436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3" r="74022"/>
          <a:stretch>
            <a:fillRect/>
          </a:stretch>
        </p:blipFill>
        <p:spPr>
          <a:xfrm flipH="1">
            <a:off x="4432020" y="2075678"/>
            <a:ext cx="1809749" cy="480060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1BD6E-CB7C-1E4C-98ED-ABCC7B6DF9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2093958"/>
            <a:ext cx="6855107" cy="4782322"/>
          </a:xfrm>
          <a:solidFill>
            <a:schemeClr val="tx1">
              <a:alpha val="50196"/>
            </a:schemeClr>
          </a:solidFill>
        </p:spPr>
        <p:txBody>
          <a:bodyPr lIns="640080">
            <a:norm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Oussama Ennaciri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MS Data Science Practicum</a:t>
            </a:r>
            <a:endParaRPr 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Regis University, Anderson College of Business and Computing</a:t>
            </a:r>
          </a:p>
          <a:p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Prof. Ghulam Mujtaba</a:t>
            </a:r>
          </a:p>
        </p:txBody>
      </p:sp>
    </p:spTree>
    <p:extLst>
      <p:ext uri="{BB962C8B-B14F-4D97-AF65-F5344CB8AC3E}">
        <p14:creationId xmlns:p14="http://schemas.microsoft.com/office/powerpoint/2010/main" val="122178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60DB-A61C-AE87-A8AC-C2DB6042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9BD4EAC-C513-C195-EE28-596B8D13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9EABD48-7588-6E4B-BB82-6B9D365CDBE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316335" y="1534263"/>
            <a:ext cx="4779665" cy="289124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Geopolitical risk is the threat or escalation of wars, terrorism, and tensions between states, which can disrupt international relations. </a:t>
            </a:r>
            <a:endParaRPr lang="en-US" sz="18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The leading measure for Geopolitical risk is the GPR index.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8CF24F-0CD6-20FE-1DC5-B67E18501A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2BEA90-E6BE-45F4-8D5D-C2E01FE3DBC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C40F8-6250-82F1-29BE-82ED10239522}"/>
              </a:ext>
            </a:extLst>
          </p:cNvPr>
          <p:cNvSpPr txBox="1"/>
          <p:nvPr/>
        </p:nvSpPr>
        <p:spPr>
          <a:xfrm>
            <a:off x="3057165" y="4929263"/>
            <a:ext cx="60993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This presents an opportunity: score geopolitical risk for every country, based on both news and fundamentals, and monitor it to catch crises early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96A2F243-523B-1D75-879A-BE3B6C979F49}"/>
              </a:ext>
            </a:extLst>
          </p:cNvPr>
          <p:cNvSpPr txBox="1">
            <a:spLocks/>
          </p:cNvSpPr>
          <p:nvPr/>
        </p:nvSpPr>
        <p:spPr>
          <a:xfrm>
            <a:off x="6106839" y="1534263"/>
            <a:ext cx="4779665" cy="289124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accent5"/>
            </a:solidFill>
          </a:ln>
        </p:spPr>
        <p:txBody>
          <a:bodyPr vert="horz" lIns="438912" tIns="45720" rIns="438912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Limited coverage: GPR scores only 44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News-only: GPR relies only on news coverage, it ignores a country’s fundamentals.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F34056DF-95C1-019B-DC5C-A49029FEAADE}"/>
              </a:ext>
            </a:extLst>
          </p:cNvPr>
          <p:cNvSpPr txBox="1">
            <a:spLocks/>
          </p:cNvSpPr>
          <p:nvPr/>
        </p:nvSpPr>
        <p:spPr>
          <a:xfrm>
            <a:off x="3032451" y="4805199"/>
            <a:ext cx="6232081" cy="119617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txBody>
          <a:bodyPr vert="horz" lIns="438912" tIns="45720" rIns="438912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018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252A67-8C32-C845-AB69-95AEACCED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: Pipeline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771F4B4-43CC-8443-88D1-B8816C96942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16117" y="1253104"/>
            <a:ext cx="2501419" cy="72259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Data collection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7487B-8F5E-2B40-B56E-EE991D1501C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6106" y="2158308"/>
            <a:ext cx="2501419" cy="722588"/>
          </a:xfrm>
        </p:spPr>
        <p:txBody>
          <a:bodyPr/>
          <a:lstStyle/>
          <a:p>
            <a:pPr algn="ctr"/>
            <a:r>
              <a:rPr lang="en-US" dirty="0"/>
              <a:t>Data preparation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2E77877B-D076-9CBE-991D-1C6F136062A2}"/>
              </a:ext>
            </a:extLst>
          </p:cNvPr>
          <p:cNvSpPr txBox="1">
            <a:spLocks/>
          </p:cNvSpPr>
          <p:nvPr/>
        </p:nvSpPr>
        <p:spPr>
          <a:xfrm>
            <a:off x="3317536" y="1253106"/>
            <a:ext cx="8036264" cy="72258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accent5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Collected 9 datasets, (2015–present)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Collection conducted via APIs/</a:t>
            </a:r>
            <a:r>
              <a:rPr lang="en-US" dirty="0" err="1">
                <a:solidFill>
                  <a:schemeClr val="tx1"/>
                </a:solidFill>
              </a:rPr>
              <a:t>BigQuery</a:t>
            </a:r>
            <a:r>
              <a:rPr lang="en-US" dirty="0">
                <a:solidFill>
                  <a:schemeClr val="tx1"/>
                </a:solidFill>
              </a:rPr>
              <a:t>/downloads/email request to the providers.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0C4421C-C265-7D56-6FEF-382613A0D9EA}"/>
              </a:ext>
            </a:extLst>
          </p:cNvPr>
          <p:cNvSpPr txBox="1">
            <a:spLocks/>
          </p:cNvSpPr>
          <p:nvPr/>
        </p:nvSpPr>
        <p:spPr>
          <a:xfrm>
            <a:off x="816105" y="4442166"/>
            <a:ext cx="2501419" cy="936702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vert="horz" lIns="438912" tIns="45720" rIns="438912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Validation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5B7EB95A-188B-969E-1D99-C55D8F432477}"/>
              </a:ext>
            </a:extLst>
          </p:cNvPr>
          <p:cNvSpPr txBox="1">
            <a:spLocks/>
          </p:cNvSpPr>
          <p:nvPr/>
        </p:nvSpPr>
        <p:spPr>
          <a:xfrm>
            <a:off x="816106" y="3060225"/>
            <a:ext cx="2501419" cy="1202612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vert="horz" lIns="438912" tIns="45720" rIns="438912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Modeling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48C81415-E3F7-B997-E179-CAF7A023EE33}"/>
              </a:ext>
            </a:extLst>
          </p:cNvPr>
          <p:cNvSpPr txBox="1">
            <a:spLocks/>
          </p:cNvSpPr>
          <p:nvPr/>
        </p:nvSpPr>
        <p:spPr>
          <a:xfrm>
            <a:off x="816104" y="5558233"/>
            <a:ext cx="2501419" cy="722592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accent5"/>
            </a:solidFill>
          </a:ln>
        </p:spPr>
        <p:txBody>
          <a:bodyPr vert="horz" lIns="438912" tIns="45720" rIns="438912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Output</a:t>
            </a:r>
          </a:p>
        </p:txBody>
      </p:sp>
      <p:sp>
        <p:nvSpPr>
          <p:cNvPr id="34" name="Text Placeholder 19">
            <a:extLst>
              <a:ext uri="{FF2B5EF4-FFF2-40B4-BE49-F238E27FC236}">
                <a16:creationId xmlns:a16="http://schemas.microsoft.com/office/drawing/2014/main" id="{6E3070A1-292E-E480-8E90-FC930EB9351F}"/>
              </a:ext>
            </a:extLst>
          </p:cNvPr>
          <p:cNvSpPr txBox="1">
            <a:spLocks/>
          </p:cNvSpPr>
          <p:nvPr/>
        </p:nvSpPr>
        <p:spPr>
          <a:xfrm>
            <a:off x="3317530" y="2158270"/>
            <a:ext cx="8036263" cy="722589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accent5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Cleaned each source, selected and engineered features, standardized to a common country-year grid and merge all 9 into one master table.</a:t>
            </a:r>
          </a:p>
        </p:txBody>
      </p:sp>
      <p:sp>
        <p:nvSpPr>
          <p:cNvPr id="39" name="Text Placeholder 19">
            <a:extLst>
              <a:ext uri="{FF2B5EF4-FFF2-40B4-BE49-F238E27FC236}">
                <a16:creationId xmlns:a16="http://schemas.microsoft.com/office/drawing/2014/main" id="{24CD6847-B656-1172-95CB-557F8FCF9309}"/>
              </a:ext>
            </a:extLst>
          </p:cNvPr>
          <p:cNvSpPr txBox="1">
            <a:spLocks/>
          </p:cNvSpPr>
          <p:nvPr/>
        </p:nvSpPr>
        <p:spPr>
          <a:xfrm>
            <a:off x="3295453" y="3060224"/>
            <a:ext cx="8036263" cy="1202613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accent5"/>
            </a:solidFill>
          </a:ln>
        </p:spPr>
        <p:txBody>
          <a:bodyPr vert="horz" lIns="91440" tIns="0" rIns="9144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1 </a:t>
            </a:r>
            <a:r>
              <a:rPr lang="en-US" i="1" dirty="0">
                <a:solidFill>
                  <a:schemeClr val="tx1"/>
                </a:solidFill>
              </a:rPr>
              <a:t>(supervised)</a:t>
            </a:r>
            <a:r>
              <a:rPr lang="en-US" dirty="0">
                <a:solidFill>
                  <a:schemeClr val="tx1"/>
                </a:solidFill>
              </a:rPr>
              <a:t> : trained on the 68 features to predict the GPR index, compared XGBoost, Random Forest, and ElasticNet.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2 </a:t>
            </a:r>
            <a:r>
              <a:rPr lang="en-US" i="1" dirty="0">
                <a:solidFill>
                  <a:schemeClr val="tx1"/>
                </a:solidFill>
              </a:rPr>
              <a:t>(unsupervised)</a:t>
            </a:r>
            <a:r>
              <a:rPr lang="en-US" dirty="0">
                <a:solidFill>
                  <a:schemeClr val="tx1"/>
                </a:solidFill>
              </a:rPr>
              <a:t> : trained on news signals to learn each country’s baseline and flag anomalies, compared z-score, Isolation Forest, and LOF.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5A274A5F-10EA-4CD0-3BCA-A2CECDB27567}"/>
              </a:ext>
            </a:extLst>
          </p:cNvPr>
          <p:cNvSpPr txBox="1">
            <a:spLocks/>
          </p:cNvSpPr>
          <p:nvPr/>
        </p:nvSpPr>
        <p:spPr>
          <a:xfrm>
            <a:off x="3317530" y="4442166"/>
            <a:ext cx="8014185" cy="936701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accent5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1: hold out whole countries (</a:t>
            </a:r>
            <a:r>
              <a:rPr lang="en-US" dirty="0" err="1">
                <a:solidFill>
                  <a:schemeClr val="tx1"/>
                </a:solidFill>
              </a:rPr>
              <a:t>GroupKFold</a:t>
            </a:r>
            <a:r>
              <a:rPr lang="en-US" dirty="0">
                <a:solidFill>
                  <a:schemeClr val="tx1"/>
                </a:solidFill>
              </a:rPr>
              <a:t>) and whole years (expanding window) retrain on the rest, predict the held-out.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2: check flags against a list of known crisis onsets.</a:t>
            </a:r>
          </a:p>
        </p:txBody>
      </p:sp>
      <p:sp>
        <p:nvSpPr>
          <p:cNvPr id="41" name="Slide Number Placeholder 1">
            <a:extLst>
              <a:ext uri="{FF2B5EF4-FFF2-40B4-BE49-F238E27FC236}">
                <a16:creationId xmlns:a16="http://schemas.microsoft.com/office/drawing/2014/main" id="{344F3E6E-A4B5-C63B-7764-2E6DB09BEBA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0AA37133-F98F-CD36-2FC7-C3BFDFE9DAB7}"/>
              </a:ext>
            </a:extLst>
          </p:cNvPr>
          <p:cNvSpPr txBox="1">
            <a:spLocks/>
          </p:cNvSpPr>
          <p:nvPr/>
        </p:nvSpPr>
        <p:spPr>
          <a:xfrm>
            <a:off x="3317531" y="5563477"/>
            <a:ext cx="8014184" cy="727595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accent5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1: Geopolitical risk scores for all 247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2: monthly unrest alerts per country.</a:t>
            </a:r>
          </a:p>
        </p:txBody>
      </p:sp>
    </p:spTree>
    <p:extLst>
      <p:ext uri="{BB962C8B-B14F-4D97-AF65-F5344CB8AC3E}">
        <p14:creationId xmlns:p14="http://schemas.microsoft.com/office/powerpoint/2010/main" val="801557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0138C5A-D559-6F4C-9389-1150ADB9F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DE37E5-5F6C-0C4C-AA85-EF844CD9A0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2BEA90-E6BE-45F4-8D5D-C2E01FE3DBCB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16" name="Content Placeholder 5">
            <a:extLst>
              <a:ext uri="{FF2B5EF4-FFF2-40B4-BE49-F238E27FC236}">
                <a16:creationId xmlns:a16="http://schemas.microsoft.com/office/drawing/2014/main" id="{034CC1C4-713D-4210-C547-09E2E45892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4667054"/>
              </p:ext>
            </p:extLst>
          </p:nvPr>
        </p:nvGraphicFramePr>
        <p:xfrm>
          <a:off x="838200" y="1879831"/>
          <a:ext cx="10537682" cy="326258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361303">
                  <a:extLst>
                    <a:ext uri="{9D8B030D-6E8A-4147-A177-3AD203B41FA5}">
                      <a16:colId xmlns:a16="http://schemas.microsoft.com/office/drawing/2014/main" val="1104002324"/>
                    </a:ext>
                  </a:extLst>
                </a:gridCol>
                <a:gridCol w="4129571">
                  <a:extLst>
                    <a:ext uri="{9D8B030D-6E8A-4147-A177-3AD203B41FA5}">
                      <a16:colId xmlns:a16="http://schemas.microsoft.com/office/drawing/2014/main" val="2744594416"/>
                    </a:ext>
                  </a:extLst>
                </a:gridCol>
                <a:gridCol w="4124743">
                  <a:extLst>
                    <a:ext uri="{9D8B030D-6E8A-4147-A177-3AD203B41FA5}">
                      <a16:colId xmlns:a16="http://schemas.microsoft.com/office/drawing/2014/main" val="2510619140"/>
                    </a:ext>
                  </a:extLst>
                </a:gridCol>
                <a:gridCol w="922065">
                  <a:extLst>
                    <a:ext uri="{9D8B030D-6E8A-4147-A177-3AD203B41FA5}">
                      <a16:colId xmlns:a16="http://schemas.microsoft.com/office/drawing/2014/main" val="3547760449"/>
                    </a:ext>
                  </a:extLst>
                </a:gridCol>
              </a:tblGrid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Source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What it measures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Example features</a:t>
                      </a: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Features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557002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GPR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Geopolitical risk level : Target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GPRC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405813623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WDI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Economy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GDP per capita, inflation, military spending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15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2116023582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V-Dem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Governance and democracy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regime type, level of corruption, 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2021616267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GSDB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Sanctions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active sanctions cases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1802880079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UN GA Voting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Diplomacy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agreement with US / Russia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314462307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UNHCR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Forced displacement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Number of refugees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788361333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UN Comtrade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Trading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total trade, export concentration (HHI)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20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667719225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SIPRI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Arms transfers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arms imports / exports number of suppliers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919811747"/>
                  </a:ext>
                </a:extLst>
              </a:tr>
              <a:tr h="32625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GDELT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News events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arms imports / exports (TIV), number of suppliers</a:t>
                      </a:r>
                    </a:p>
                  </a:txBody>
                  <a:tcPr marL="69850" marR="69850" marT="38100" marB="3810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effectLst/>
                        </a:rPr>
                        <a:t>8</a:t>
                      </a:r>
                      <a:endParaRPr lang="en-US" sz="1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/>
                </a:tc>
                <a:extLst>
                  <a:ext uri="{0D108BD9-81ED-4DB2-BD59-A6C34878D82A}">
                    <a16:rowId xmlns:a16="http://schemas.microsoft.com/office/drawing/2014/main" val="3590275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13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83BAA-AC0E-24C6-C1AD-28DE0E022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F9F5-A158-9899-636B-7E1B7423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1 : Risk Scorer (Supervised)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A2CC0-E5BB-847B-209B-CA475769DBD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2BEA90-E6BE-45F4-8D5D-C2E01FE3DBCB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EEF2BB5F-05E3-FFB0-D366-E5BA9D8F7D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266025"/>
              </p:ext>
            </p:extLst>
          </p:nvPr>
        </p:nvGraphicFramePr>
        <p:xfrm>
          <a:off x="976880" y="3992688"/>
          <a:ext cx="10206108" cy="175061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384282">
                  <a:extLst>
                    <a:ext uri="{9D8B030D-6E8A-4147-A177-3AD203B41FA5}">
                      <a16:colId xmlns:a16="http://schemas.microsoft.com/office/drawing/2014/main" val="1104002324"/>
                    </a:ext>
                  </a:extLst>
                </a:gridCol>
                <a:gridCol w="2063578">
                  <a:extLst>
                    <a:ext uri="{9D8B030D-6E8A-4147-A177-3AD203B41FA5}">
                      <a16:colId xmlns:a16="http://schemas.microsoft.com/office/drawing/2014/main" val="2744594416"/>
                    </a:ext>
                  </a:extLst>
                </a:gridCol>
                <a:gridCol w="1717590">
                  <a:extLst>
                    <a:ext uri="{9D8B030D-6E8A-4147-A177-3AD203B41FA5}">
                      <a16:colId xmlns:a16="http://schemas.microsoft.com/office/drawing/2014/main" val="2510619140"/>
                    </a:ext>
                  </a:extLst>
                </a:gridCol>
                <a:gridCol w="1977081">
                  <a:extLst>
                    <a:ext uri="{9D8B030D-6E8A-4147-A177-3AD203B41FA5}">
                      <a16:colId xmlns:a16="http://schemas.microsoft.com/office/drawing/2014/main" val="535694891"/>
                    </a:ext>
                  </a:extLst>
                </a:gridCol>
                <a:gridCol w="2063577">
                  <a:extLst>
                    <a:ext uri="{9D8B030D-6E8A-4147-A177-3AD203B41FA5}">
                      <a16:colId xmlns:a16="http://schemas.microsoft.com/office/drawing/2014/main" val="3547760449"/>
                    </a:ext>
                  </a:extLst>
                </a:gridCol>
              </a:tblGrid>
              <a:tr h="37901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Model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Spearman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(unseen countries)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Spearman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(unseen years)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MAE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(unseen countries)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MAE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(unseen years)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557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XGBoost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0.811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0.911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0.16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0.11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5813623"/>
                  </a:ext>
                </a:extLst>
              </a:tr>
              <a:tr h="2182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RandomForest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0.743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0.906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0.178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0.119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6023582"/>
                  </a:ext>
                </a:extLst>
              </a:tr>
              <a:tr h="2182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ElasticNet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0.639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0.845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0.241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0.139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1616267"/>
                  </a:ext>
                </a:extLst>
              </a:tr>
              <a:tr h="3790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Baseline (predict mean)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-</a:t>
                      </a: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+mn-lt"/>
                        </a:rPr>
                        <a:t>-</a:t>
                      </a: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0.274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0.275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288007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6845ABC-BAF3-DB59-1B9D-78C378CD40D1}"/>
              </a:ext>
            </a:extLst>
          </p:cNvPr>
          <p:cNvSpPr txBox="1"/>
          <p:nvPr/>
        </p:nvSpPr>
        <p:spPr>
          <a:xfrm>
            <a:off x="822134" y="1628955"/>
            <a:ext cx="10515601" cy="17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Goal : Predict the GPR index for every country.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Target : The GPR index, log-transformed (it’s skewed).</a:t>
            </a:r>
            <a:endParaRPr lang="en-US" sz="1800" b="0" i="0" dirty="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Data :Trained on the 4</a:t>
            </a:r>
            <a:r>
              <a:rPr lang="en-US" dirty="0"/>
              <a:t>4 labeled countries × 10 years (2015–2024) = 440 rows, with 68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i="0" dirty="0">
                <a:effectLst/>
              </a:rPr>
              <a:t>Models : XGBoost regression vs Random Forest vs ElasticNet.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6E40270-77CE-668E-2AD8-9C95582D8724}"/>
              </a:ext>
            </a:extLst>
          </p:cNvPr>
          <p:cNvSpPr txBox="1">
            <a:spLocks/>
          </p:cNvSpPr>
          <p:nvPr/>
        </p:nvSpPr>
        <p:spPr>
          <a:xfrm>
            <a:off x="811094" y="1114696"/>
            <a:ext cx="10537683" cy="4367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Approach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CD86075-D9AA-CF13-1CDE-BF90AB4AC712}"/>
              </a:ext>
            </a:extLst>
          </p:cNvPr>
          <p:cNvSpPr txBox="1">
            <a:spLocks/>
          </p:cNvSpPr>
          <p:nvPr/>
        </p:nvSpPr>
        <p:spPr>
          <a:xfrm>
            <a:off x="838199" y="3429000"/>
            <a:ext cx="10537683" cy="4367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253335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6F9A-30B1-E134-BA07-0FD52659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DE024-862C-2072-D911-96C622D0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1 : Risk Scorer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B9D972BD-CA73-9083-F856-F7BFAD82357D}"/>
              </a:ext>
            </a:extLst>
          </p:cNvPr>
          <p:cNvPicPr>
            <a:picLocks noGrp="1" noChangeAspect="1"/>
          </p:cNvPicPr>
          <p:nvPr>
            <p:ph sz="quarter" idx="24"/>
          </p:nvPr>
        </p:nvPicPr>
        <p:blipFill>
          <a:blip r:embed="rId3"/>
          <a:stretch>
            <a:fillRect/>
          </a:stretch>
        </p:blipFill>
        <p:spPr>
          <a:xfrm>
            <a:off x="1202900" y="1003646"/>
            <a:ext cx="9786200" cy="532212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281CA-415C-58D4-101F-FFCA4D666B6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2BEA90-E6BE-45F4-8D5D-C2E01FE3DBC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65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06730-9D25-4D22-B39C-5F7CB14D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2">
            <a:extLst>
              <a:ext uri="{FF2B5EF4-FFF2-40B4-BE49-F238E27FC236}">
                <a16:creationId xmlns:a16="http://schemas.microsoft.com/office/drawing/2014/main" id="{CE02D787-E588-0CB9-2A1D-F9B11D06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Model 2 : Anomaly Detector (Unsupervised)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25072D-CCBD-05B9-96B2-843AF34269C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2BEA90-E6BE-45F4-8D5D-C2E01FE3DBCB}" type="slidenum">
              <a:rPr lang="en-US" sz="1200" smtClean="0"/>
              <a:t>7</a:t>
            </a:fld>
            <a:endParaRPr lang="en-US" sz="1200" dirty="0"/>
          </a:p>
        </p:txBody>
      </p:sp>
      <p:graphicFrame>
        <p:nvGraphicFramePr>
          <p:cNvPr id="2" name="Content Placeholder 5">
            <a:extLst>
              <a:ext uri="{FF2B5EF4-FFF2-40B4-BE49-F238E27FC236}">
                <a16:creationId xmlns:a16="http://schemas.microsoft.com/office/drawing/2014/main" id="{D5EAF0D9-2EC7-48B4-6BFD-4B5311C117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3839134"/>
              </p:ext>
            </p:extLst>
          </p:nvPr>
        </p:nvGraphicFramePr>
        <p:xfrm>
          <a:off x="955876" y="4156954"/>
          <a:ext cx="8768892" cy="1247696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2567692">
                  <a:extLst>
                    <a:ext uri="{9D8B030D-6E8A-4147-A177-3AD203B41FA5}">
                      <a16:colId xmlns:a16="http://schemas.microsoft.com/office/drawing/2014/main" val="1104002324"/>
                    </a:ext>
                  </a:extLst>
                </a:gridCol>
                <a:gridCol w="2222318">
                  <a:extLst>
                    <a:ext uri="{9D8B030D-6E8A-4147-A177-3AD203B41FA5}">
                      <a16:colId xmlns:a16="http://schemas.microsoft.com/office/drawing/2014/main" val="2744594416"/>
                    </a:ext>
                  </a:extLst>
                </a:gridCol>
                <a:gridCol w="1849715">
                  <a:extLst>
                    <a:ext uri="{9D8B030D-6E8A-4147-A177-3AD203B41FA5}">
                      <a16:colId xmlns:a16="http://schemas.microsoft.com/office/drawing/2014/main" val="2510619140"/>
                    </a:ext>
                  </a:extLst>
                </a:gridCol>
                <a:gridCol w="2129167">
                  <a:extLst>
                    <a:ext uri="{9D8B030D-6E8A-4147-A177-3AD203B41FA5}">
                      <a16:colId xmlns:a16="http://schemas.microsoft.com/office/drawing/2014/main" val="535694891"/>
                    </a:ext>
                  </a:extLst>
                </a:gridCol>
              </a:tblGrid>
              <a:tr h="37901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</a:rPr>
                        <a:t>Method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Events flagged</a:t>
                      </a: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Baseline (Random)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P-value </a:t>
                      </a: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557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Z-score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43/50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20</a:t>
                      </a: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&lt;0.001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5813623"/>
                  </a:ext>
                </a:extLst>
              </a:tr>
              <a:tr h="2182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Isolation Forest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43/50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21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&lt;0.001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6023582"/>
                  </a:ext>
                </a:extLst>
              </a:tr>
              <a:tr h="2182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LOF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17/50</a:t>
                      </a:r>
                      <a:endParaRPr lang="en-US" sz="14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n-US" sz="1400" dirty="0">
                        <a:latin typeface="+mn-lt"/>
                      </a:endParaRPr>
                    </a:p>
                  </a:txBody>
                  <a:tcPr marL="69850" marR="69850" marT="38100" marB="3810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0.34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161626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3194AF9-0CE7-7AC0-1A81-2FC43668BE30}"/>
              </a:ext>
            </a:extLst>
          </p:cNvPr>
          <p:cNvSpPr txBox="1"/>
          <p:nvPr/>
        </p:nvSpPr>
        <p:spPr>
          <a:xfrm>
            <a:off x="822134" y="1628955"/>
            <a:ext cx="10515601" cy="170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Goal: Flag sudden unrest for countries.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Target: None. The model would detect deviations from each country's own baseline.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Data: monthly GDELT, all countries, 32k country-months, 7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Models: z-score vs Isolation Forest vs LOF.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37278C-C152-D2FA-DDB7-9A128050F5AE}"/>
              </a:ext>
            </a:extLst>
          </p:cNvPr>
          <p:cNvSpPr txBox="1">
            <a:spLocks/>
          </p:cNvSpPr>
          <p:nvPr/>
        </p:nvSpPr>
        <p:spPr>
          <a:xfrm>
            <a:off x="811094" y="1114696"/>
            <a:ext cx="10537683" cy="4367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Approach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3CE2423-C4AD-E2FA-7D3D-9FE02E10EA90}"/>
              </a:ext>
            </a:extLst>
          </p:cNvPr>
          <p:cNvSpPr txBox="1">
            <a:spLocks/>
          </p:cNvSpPr>
          <p:nvPr/>
        </p:nvSpPr>
        <p:spPr>
          <a:xfrm>
            <a:off x="838199" y="3550793"/>
            <a:ext cx="10537683" cy="4367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Validation</a:t>
            </a:r>
          </a:p>
        </p:txBody>
      </p:sp>
    </p:spTree>
    <p:extLst>
      <p:ext uri="{BB962C8B-B14F-4D97-AF65-F5344CB8AC3E}">
        <p14:creationId xmlns:p14="http://schemas.microsoft.com/office/powerpoint/2010/main" val="2723274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0C379-3798-E12C-7A8C-435DCB9F6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2">
            <a:extLst>
              <a:ext uri="{FF2B5EF4-FFF2-40B4-BE49-F238E27FC236}">
                <a16:creationId xmlns:a16="http://schemas.microsoft.com/office/drawing/2014/main" id="{1EB0E12B-98D8-8411-12BE-0978DB3F6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Model 2 : Anomaly Detector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D4AD6A-7AFA-CD68-747C-E30606EEB21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2BEA90-E6BE-45F4-8D5D-C2E01FE3DBCB}" type="slidenum">
              <a:rPr lang="en-US" sz="1200" smtClean="0"/>
              <a:t>8</a:t>
            </a:fld>
            <a:endParaRPr lang="en-US" sz="1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3B5ED5-ECB8-195E-08EB-7387CD0D5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424" y="1440364"/>
            <a:ext cx="10127151" cy="458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46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956B-771E-59BC-E0D1-01409450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98ACBA-E3A6-8630-F1BA-ECD55895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F10A6-F62E-5472-4647-F3E5FD86DE9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-2743200" y="7873651"/>
            <a:ext cx="2743200" cy="365125"/>
          </a:xfrm>
        </p:spPr>
        <p:txBody>
          <a:bodyPr/>
          <a:lstStyle/>
          <a:p>
            <a:fld id="{A52BEA90-E6BE-45F4-8D5D-C2E01FE3DBC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6D8D5A-1DEB-50FF-1699-5975099BB928}"/>
              </a:ext>
            </a:extLst>
          </p:cNvPr>
          <p:cNvSpPr txBox="1"/>
          <p:nvPr/>
        </p:nvSpPr>
        <p:spPr>
          <a:xfrm>
            <a:off x="1240184" y="1670162"/>
            <a:ext cx="9721679" cy="733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Risk scores for all 247 countries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Early-warning monitor for unrest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B469E-2FC8-5728-5C43-0268FCB4C990}"/>
              </a:ext>
            </a:extLst>
          </p:cNvPr>
          <p:cNvSpPr txBox="1">
            <a:spLocks/>
          </p:cNvSpPr>
          <p:nvPr/>
        </p:nvSpPr>
        <p:spPr>
          <a:xfrm>
            <a:off x="816118" y="1293868"/>
            <a:ext cx="10537683" cy="4367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Project contributions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9138E94-A657-6C4D-18E4-A3538A03E15A}"/>
              </a:ext>
            </a:extLst>
          </p:cNvPr>
          <p:cNvSpPr txBox="1">
            <a:spLocks/>
          </p:cNvSpPr>
          <p:nvPr/>
        </p:nvSpPr>
        <p:spPr>
          <a:xfrm>
            <a:off x="816117" y="2633310"/>
            <a:ext cx="10537683" cy="43671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accent5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Future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0ABD78-28EA-30E3-FA7D-8B414C0076DC}"/>
              </a:ext>
            </a:extLst>
          </p:cNvPr>
          <p:cNvSpPr txBox="1"/>
          <p:nvPr/>
        </p:nvSpPr>
        <p:spPr>
          <a:xfrm>
            <a:off x="1240184" y="2958260"/>
            <a:ext cx="7469658" cy="1287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Improving data quality (duplicated news, misinformation)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Improving Model 2 precision by reducing false alarms 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3777892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4104-81F4-CDA6-C36A-09FFF1A26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1DA3F3-3994-5DF1-1C98-2A4D38FA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3EFDF-5477-D912-3399-9834AC32D5C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-2743200" y="7873651"/>
            <a:ext cx="2743200" cy="365125"/>
          </a:xfrm>
        </p:spPr>
        <p:txBody>
          <a:bodyPr/>
          <a:lstStyle/>
          <a:p>
            <a:fld id="{A52BEA90-E6BE-45F4-8D5D-C2E01FE3DBC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D42C2-D816-4A70-85A5-0805AD39AD78}"/>
              </a:ext>
            </a:extLst>
          </p:cNvPr>
          <p:cNvSpPr txBox="1"/>
          <p:nvPr/>
        </p:nvSpPr>
        <p:spPr>
          <a:xfrm>
            <a:off x="1079157" y="1440364"/>
            <a:ext cx="10033686" cy="3930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Caldara, D., &amp; Iacoviello, M. (2022). Measuring geopolitical risk. </a:t>
            </a:r>
            <a:r>
              <a:rPr lang="en-US" sz="1400" i="1" dirty="0"/>
              <a:t>American Economic Review, 112</a:t>
            </a:r>
            <a:r>
              <a:rPr lang="en-US" sz="1400" dirty="0"/>
              <a:t>(4), 1194–1225.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Chen, T., &amp; </a:t>
            </a:r>
            <a:r>
              <a:rPr lang="en-US" sz="1400" dirty="0" err="1"/>
              <a:t>Guestrin</a:t>
            </a:r>
            <a:r>
              <a:rPr lang="en-US" sz="1400" dirty="0"/>
              <a:t>, C. (2016). XGBoost: A scalable tree boosting system. </a:t>
            </a:r>
            <a:r>
              <a:rPr lang="en-US" sz="1400" i="1" dirty="0"/>
              <a:t>Proc. 22nd ACM SIGKDD</a:t>
            </a:r>
            <a:r>
              <a:rPr lang="en-US" sz="1400" dirty="0"/>
              <a:t>, 785–794.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Hong, D., Fu, Z., Zhang, X., &amp; Pan, Y. (2025). Research on the development and application of the GDELT event database. </a:t>
            </a:r>
            <a:r>
              <a:rPr lang="en-US" sz="1400" i="1" dirty="0"/>
              <a:t>Data, 10</a:t>
            </a:r>
            <a:r>
              <a:rPr lang="en-US" sz="1400" dirty="0"/>
              <a:t>(158).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Iacoviello, M., &amp; Tong, J. (2026). </a:t>
            </a:r>
            <a:r>
              <a:rPr lang="en-US" sz="1400" i="1" dirty="0"/>
              <a:t>The AI-GPR index: Measuring geopolitical risk using artificial intelligence.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Liu, F. T., Ting, K. M., &amp; Zhou, Z.-H. (2008). Isolation forest. </a:t>
            </a:r>
            <a:r>
              <a:rPr lang="en-US" sz="1400" i="1" dirty="0"/>
              <a:t>2008 IEEE ICDM</a:t>
            </a:r>
            <a:r>
              <a:rPr lang="en-US" sz="1400" dirty="0"/>
              <a:t>, 413–422.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Murphy, M., Sharpe, E., &amp; Huang, K. (2024). The promise of machine learning in violent conflict forecasting. </a:t>
            </a:r>
            <a:r>
              <a:rPr lang="en-US" sz="1400" i="1" dirty="0"/>
              <a:t>Data &amp; Policy, 6</a:t>
            </a:r>
            <a:r>
              <a:rPr lang="en-US" sz="1400" dirty="0"/>
              <a:t>, e35.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Obukhov, T., &amp; Brovelli, M. A. (2023). Identifying conditioning factors and predictors of conflict likelihood for ML models: A literature review. </a:t>
            </a:r>
            <a:r>
              <a:rPr lang="en-US" sz="1400" i="1" dirty="0"/>
              <a:t>ISPRS Int. J. of Geo-Information, 12</a:t>
            </a:r>
            <a:r>
              <a:rPr lang="en-US" sz="1400" dirty="0"/>
              <a:t>(8), 322.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Ward, M., et al. (2013). </a:t>
            </a:r>
            <a:r>
              <a:rPr lang="en-US" sz="1400" i="1" dirty="0"/>
              <a:t>Comparing GDELT and ICEWS event data.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Yonamine, J. E. (2013). </a:t>
            </a:r>
            <a:r>
              <a:rPr lang="en-US" sz="1400" i="1" dirty="0"/>
              <a:t>Predicting future levels of violence in Afghanistan districts using GDELT.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97725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A28E0-F595-A175-BF3A-0A5896AF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F90431-6999-841A-846C-5B646887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23EA7-EC55-F5B3-C3D1-5C8FBDE21CB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-2743200" y="7873651"/>
            <a:ext cx="2743200" cy="365125"/>
          </a:xfrm>
        </p:spPr>
        <p:txBody>
          <a:bodyPr/>
          <a:lstStyle/>
          <a:p>
            <a:fld id="{A52BEA90-E6BE-45F4-8D5D-C2E01FE3DBC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4051F3-4802-339C-B984-3F887E50D656}"/>
              </a:ext>
            </a:extLst>
          </p:cNvPr>
          <p:cNvSpPr txBox="1"/>
          <p:nvPr/>
        </p:nvSpPr>
        <p:spPr>
          <a:xfrm>
            <a:off x="1079157" y="1440364"/>
            <a:ext cx="10033686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GPR : Caldara, D., &amp; Iacoviello, M. (2022). </a:t>
            </a:r>
            <a:r>
              <a:rPr lang="en-US" sz="1400" i="1" dirty="0"/>
              <a:t>Geopolitical Risk Index</a:t>
            </a:r>
            <a:r>
              <a:rPr lang="en-US" sz="1400" dirty="0"/>
              <a:t> (target).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GDELT : The GDELT Project. </a:t>
            </a:r>
            <a:r>
              <a:rPr lang="en-US" sz="1400" i="1" dirty="0"/>
              <a:t>Global Database of Events, Language, and Tone</a:t>
            </a:r>
            <a:r>
              <a:rPr lang="en-US" sz="1400" dirty="0"/>
              <a:t> (</a:t>
            </a:r>
            <a:r>
              <a:rPr lang="en-US" sz="1400" dirty="0" err="1"/>
              <a:t>Leetaru</a:t>
            </a:r>
            <a:r>
              <a:rPr lang="en-US" sz="1400" dirty="0"/>
              <a:t> &amp; Schrodt, 2013).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World Bank WDI : World Bank. </a:t>
            </a:r>
            <a:r>
              <a:rPr lang="en-US" sz="1400" i="1" dirty="0"/>
              <a:t>World Development Indicators.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V-Dem : Coppedge, M., et al. (2026). </a:t>
            </a:r>
            <a:r>
              <a:rPr lang="en-US" sz="1400" i="1" dirty="0"/>
              <a:t>V-Dem Dataset v16.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SIPRI : </a:t>
            </a:r>
            <a:r>
              <a:rPr lang="en-US" sz="1400" i="1" dirty="0"/>
              <a:t>SIPRI Arms Transfers Database.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UN Comtrade : United Nations. </a:t>
            </a:r>
            <a:r>
              <a:rPr lang="en-US" sz="1400" i="1" dirty="0"/>
              <a:t>UN Comtrade Database.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GSDB : </a:t>
            </a:r>
            <a:r>
              <a:rPr lang="en-US" sz="1400" dirty="0" err="1"/>
              <a:t>Felbermayr</a:t>
            </a:r>
            <a:r>
              <a:rPr lang="en-US" sz="1400" dirty="0"/>
              <a:t> et al. (2020); Yalcin et al. (2025). </a:t>
            </a:r>
            <a:r>
              <a:rPr lang="en-US" sz="1400" i="1" dirty="0"/>
              <a:t>Global Sanctions Data Base (R4).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UNHCR : </a:t>
            </a:r>
            <a:r>
              <a:rPr lang="en-US" sz="1400" i="1" dirty="0"/>
              <a:t>UNHCR Refugee Population Statistics Database.</a:t>
            </a:r>
            <a:endParaRPr lang="en-US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UN GA Voting : Bailey, </a:t>
            </a:r>
            <a:r>
              <a:rPr lang="en-US" sz="1400" dirty="0" err="1"/>
              <a:t>Strezhnev</a:t>
            </a:r>
            <a:r>
              <a:rPr lang="en-US" sz="1400" dirty="0"/>
              <a:t> &amp; </a:t>
            </a:r>
            <a:r>
              <a:rPr lang="en-US" sz="1400" dirty="0" err="1"/>
              <a:t>Voeten</a:t>
            </a:r>
            <a:r>
              <a:rPr lang="en-US" sz="1400" dirty="0"/>
              <a:t> (2017). </a:t>
            </a:r>
            <a:r>
              <a:rPr lang="en-US" sz="1400" i="1" dirty="0"/>
              <a:t>UN General Assembly Voting Data.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145066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ADFDE-5203-46E2-B70A-A26C2094B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7760A9C-1CBD-706B-A90D-2D1AD97BA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797" y="3053465"/>
            <a:ext cx="10540405" cy="479900"/>
          </a:xfrm>
        </p:spPr>
        <p:txBody>
          <a:bodyPr/>
          <a:lstStyle/>
          <a:p>
            <a:pPr algn="ctr"/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42465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6">
      <a:dk1>
        <a:srgbClr val="000000"/>
      </a:dk1>
      <a:lt1>
        <a:srgbClr val="FFFFFF"/>
      </a:lt1>
      <a:dk2>
        <a:srgbClr val="574512"/>
      </a:dk2>
      <a:lt2>
        <a:srgbClr val="6C3C0D"/>
      </a:lt2>
      <a:accent1>
        <a:srgbClr val="DDDDDD"/>
      </a:accent1>
      <a:accent2>
        <a:srgbClr val="616A78"/>
      </a:accent2>
      <a:accent3>
        <a:srgbClr val="B18A2C"/>
      </a:accent3>
      <a:accent4>
        <a:srgbClr val="D87C1B"/>
      </a:accent4>
      <a:accent5>
        <a:srgbClr val="2E515E"/>
      </a:accent5>
      <a:accent6>
        <a:srgbClr val="1D7CB8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sertion-Evidence-Template_Win32_CP_v19" id="{FB9C8157-6D3B-4DB5-9A1F-5CF7F9024E95}" vid="{69ABE18A-F567-4E4B-99A7-394FD3ECC3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1604</TotalTime>
  <Words>1027</Words>
  <Application>Microsoft Macintosh PowerPoint</Application>
  <PresentationFormat>Widescreen</PresentationFormat>
  <Paragraphs>174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Geopolitical Risk Scoring and Anomaly Detection</vt:lpstr>
      <vt:lpstr>Introduction</vt:lpstr>
      <vt:lpstr>Methodology : Pipeline</vt:lpstr>
      <vt:lpstr>Data</vt:lpstr>
      <vt:lpstr>Model 1 : Risk Scorer (Supervised)</vt:lpstr>
      <vt:lpstr>Model 1 : Risk Scorer</vt:lpstr>
      <vt:lpstr>Model 2 : Anomaly Detector (Unsupervised)</vt:lpstr>
      <vt:lpstr>Model 2 : Anomaly Detector</vt:lpstr>
      <vt:lpstr>Conclusion and Future Works</vt:lpstr>
      <vt:lpstr>References</vt:lpstr>
      <vt:lpstr>Datasets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Ennaciri, Oussama</cp:lastModifiedBy>
  <cp:revision>17</cp:revision>
  <dcterms:created xsi:type="dcterms:W3CDTF">2026-06-22T23:36:53Z</dcterms:created>
  <dcterms:modified xsi:type="dcterms:W3CDTF">2026-06-28T16:04:00Z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2026-06-22T23:57:16Z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1540a5fc-8fb9-45d5-91ed-2a54e7e057a6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50, 3, 0, 1</vt:lpwstr>
  </property>
</Properties>
</file>